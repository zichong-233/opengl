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4cdd122e124728" /><Relationship Type="http://schemas.openxmlformats.org/officeDocument/2006/relationships/extended-properties" Target="/docProps/app.xml" Id="R37b80baa0a994398" /><Relationship Type="http://schemas.openxmlformats.org/officeDocument/2006/relationships/officeDocument" Target="/ppt/presentation.xml" Id="R9b01200f3dda49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ffdf1535544492"/>
  </p:sldMasterIdLst>
  <p:notesMasterIdLst>
    <p:notesMasterId xmlns:r="http://schemas.openxmlformats.org/officeDocument/2006/relationships" r:id="R9865083063454245"/>
  </p:notesMasterIdLst>
  <p:sldIdLst>
    <p:sldId xmlns:r="http://schemas.openxmlformats.org/officeDocument/2006/relationships" id="256" r:id="R2ba2818538bb40ba"/>
    <p:sldId xmlns:r="http://schemas.openxmlformats.org/officeDocument/2006/relationships" id="257" r:id="R9915ebcd5dfd4dae"/>
    <p:sldId xmlns:r="http://schemas.openxmlformats.org/officeDocument/2006/relationships" id="258" r:id="R26072c07c90648e2"/>
    <p:sldId xmlns:r="http://schemas.openxmlformats.org/officeDocument/2006/relationships" id="259" r:id="Ra3dbd4377e114259"/>
    <p:sldId xmlns:r="http://schemas.openxmlformats.org/officeDocument/2006/relationships" id="260" r:id="R4ee2e00c7fb74c10"/>
    <p:sldId xmlns:r="http://schemas.openxmlformats.org/officeDocument/2006/relationships" id="261" r:id="Rac722d51e62b4ce4"/>
    <p:sldId xmlns:r="http://schemas.openxmlformats.org/officeDocument/2006/relationships" id="262" r:id="R06dfa87adfa04978"/>
    <p:sldId xmlns:r="http://schemas.openxmlformats.org/officeDocument/2006/relationships" id="263" r:id="Rb5ebee075a0a4d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fdf1535544492" /><Relationship Type="http://schemas.openxmlformats.org/officeDocument/2006/relationships/theme" Target="/ppt/theme/theme1.xml" Id="Rf99ce4f35ea8494e" /><Relationship Type="http://schemas.openxmlformats.org/officeDocument/2006/relationships/notesMaster" Target="/ppt/notesMasters/notesMaster1.xml" Id="R9865083063454245" /><Relationship Type="http://schemas.openxmlformats.org/officeDocument/2006/relationships/presProps" Target="/ppt/presProps.xml" Id="R0d70433e783a42b2" /><Relationship Type="http://schemas.openxmlformats.org/officeDocument/2006/relationships/viewProps" Target="/ppt/viewProps.xml" Id="R0e275a4022ce4f0b" /><Relationship Type="http://schemas.openxmlformats.org/officeDocument/2006/relationships/tableStyles" Target="/ppt/tableStyles.xml" Id="R057bb69d720d46b8" /><Relationship Type="http://schemas.openxmlformats.org/officeDocument/2006/relationships/slide" Target="/ppt/slides/slide1.xml" Id="R2ba2818538bb40ba" /><Relationship Type="http://schemas.openxmlformats.org/officeDocument/2006/relationships/slide" Target="/ppt/slides/slide2.xml" Id="R9915ebcd5dfd4dae" /><Relationship Type="http://schemas.openxmlformats.org/officeDocument/2006/relationships/slide" Target="/ppt/slides/slide3.xml" Id="R26072c07c90648e2" /><Relationship Type="http://schemas.openxmlformats.org/officeDocument/2006/relationships/slide" Target="/ppt/slides/slide4.xml" Id="Ra3dbd4377e114259" /><Relationship Type="http://schemas.openxmlformats.org/officeDocument/2006/relationships/slide" Target="/ppt/slides/slide5.xml" Id="R4ee2e00c7fb74c10" /><Relationship Type="http://schemas.openxmlformats.org/officeDocument/2006/relationships/slide" Target="/ppt/slides/slide6.xml" Id="Rac722d51e62b4ce4" /><Relationship Type="http://schemas.openxmlformats.org/officeDocument/2006/relationships/slide" Target="/ppt/slides/slide7.xml" Id="R06dfa87adfa04978" /><Relationship Type="http://schemas.openxmlformats.org/officeDocument/2006/relationships/slide" Target="/ppt/slides/slide8.xml" Id="Rb5ebee075a0a4d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d8e96a06d1041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ea7f035ce24958" /><Relationship Type="http://schemas.openxmlformats.org/officeDocument/2006/relationships/notesMaster" Target="/ppt/notesMasters/notesMaster1.xml" Id="Raadc8459db5148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482899340a4256" /><Relationship Type="http://schemas.openxmlformats.org/officeDocument/2006/relationships/notesMaster" Target="/ppt/notesMasters/notesMaster1.xml" Id="R53636687b8ae4e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c3091bea1d4064" /><Relationship Type="http://schemas.openxmlformats.org/officeDocument/2006/relationships/notesMaster" Target="/ppt/notesMasters/notesMaster1.xml" Id="Re3756117e0fc49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d2af7ed83744f0" /><Relationship Type="http://schemas.openxmlformats.org/officeDocument/2006/relationships/notesMaster" Target="/ppt/notesMasters/notesMaster1.xml" Id="R31fcae2ddf7a41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7a2f54f15a4aa4" /><Relationship Type="http://schemas.openxmlformats.org/officeDocument/2006/relationships/notesMaster" Target="/ppt/notesMasters/notesMaster1.xml" Id="Ree42d089caa84d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726bfb71f14007" /><Relationship Type="http://schemas.openxmlformats.org/officeDocument/2006/relationships/notesMaster" Target="/ppt/notesMasters/notesMaster1.xml" Id="R761f51c61dc64e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9365c296924199" /><Relationship Type="http://schemas.openxmlformats.org/officeDocument/2006/relationships/notesMaster" Target="/ppt/notesMasters/notesMaster1.xml" Id="R535ebf5165844f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4d4e1a2f854337" /><Relationship Type="http://schemas.openxmlformats.org/officeDocument/2006/relationships/notesMaster" Target="/ppt/notesMasters/notesMaster1.xml" Id="R5b466f52eca44b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914d0e31d4b2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b6d8ad2bc6c4d2e" /><Relationship Type="http://schemas.openxmlformats.org/officeDocument/2006/relationships/slideLayout" Target="/ppt/slideLayouts/slideLayout2.xml" Id="Rae1e818a8b934f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1e818a8b934f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ea2648fa874f9c" /><Relationship Type="http://schemas.openxmlformats.org/officeDocument/2006/relationships/notesSlide" Target="/ppt/notesSlides/notesSlide1.xml" Id="R259ccc273d0441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67a7dd8b284ad6" /><Relationship Type="http://schemas.openxmlformats.org/officeDocument/2006/relationships/notesSlide" Target="/ppt/notesSlides/notesSlide2.xml" Id="R2dd513e4d68a4a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b44710629c43d2" /><Relationship Type="http://schemas.openxmlformats.org/officeDocument/2006/relationships/notesSlide" Target="/ppt/notesSlides/notesSlide3.xml" Id="Rcab089b0396e48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46f43730f4425e" /><Relationship Type="http://schemas.openxmlformats.org/officeDocument/2006/relationships/notesSlide" Target="/ppt/notesSlides/notesSlide4.xml" Id="R58669746386541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07f60256a449f5" /><Relationship Type="http://schemas.openxmlformats.org/officeDocument/2006/relationships/notesSlide" Target="/ppt/notesSlides/notesSlide5.xml" Id="Re0b8bd12cdd240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f4e2baddc84c42" /><Relationship Type="http://schemas.openxmlformats.org/officeDocument/2006/relationships/notesSlide" Target="/ppt/notesSlides/notesSlide6.xml" Id="Rb8516c8c747641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99fcea29ae4b73" /><Relationship Type="http://schemas.openxmlformats.org/officeDocument/2006/relationships/notesSlide" Target="/ppt/notesSlides/notesSlide7.xml" Id="R33f0d0a9721b47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d4f33b205d4f3a" /><Relationship Type="http://schemas.openxmlformats.org/officeDocument/2006/relationships/notesSlide" Target="/ppt/notesSlides/notesSlide8.xml" Id="R30334aebadea47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A495DC-4D54-4435-891E-42EDBC01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853D9-8AD5-42C5-81E3-26C573B0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E2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3E2BE"/>
                </a:solidFill>
                <a:latin typeface="Microsoft YaHei"/>
                <a:ea typeface="Microsoft YaHei"/>
                <a:cs typeface="Microsoft YaHei"/>
              </a:rPr>
              <a:t>OPENGL PROJECT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7E0EA-B33E-443A-9B8D-49155A3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你的项目已经具备小型渲染框架骨架，下一道门槛是资源生命周期。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78E5D-E63D-4078-841F-D5F44AFD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7429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2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7E2D8"/>
                </a:solidFill>
                <a:latin typeface="Microsoft YaHei"/>
                <a:ea typeface="Microsoft YaHei"/>
                <a:cs typeface="Microsoft YaHei"/>
              </a:rPr>
              <a:t>窗口与输入、场景树、几何、材质、Shader、纹理、Assimp、Renderer、FBO 与 ImGui 均已成形。当前核心风险不是功能缺口，而是裸指针所有权、共享纹理状态和 GPU 资源复制风险。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DF97F-C23A-4036-B393-888B4BDB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28700"/>
            <a:ext cx="2400300" cy="30861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35434B"/>
          </a:solidFill>
          <a:ln xmlns:a="http://schemas.openxmlformats.org/drawingml/2006/main" w="9525">
            <a:solidFill>
              <a:srgbClr val="5D6A7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64218-CBF5-4426-A032-7B2D1DBF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763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E2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E2BE"/>
                </a:solidFill>
                <a:latin typeface="Microsoft YaHei"/>
                <a:ea typeface="Microsoft YaHei"/>
                <a:cs typeface="Microsoft YaHei"/>
              </a:rPr>
              <a:t>总体判断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51264-76FA-42EF-AC31-478A8CA8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179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1C071-780F-4BFF-BAA2-7F85AE78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31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可运行框架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C4F15-7F4E-458C-8C70-C1DB3E61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431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8E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8EAED"/>
                </a:solidFill>
                <a:latin typeface="Microsoft YaHei"/>
                <a:ea typeface="Microsoft YaHei"/>
                <a:cs typeface="Microsoft YaHei"/>
              </a:rPr>
              <a:t>但还不是成熟引擎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5C924-65C8-4F37-B52F-37C51222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7180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E2BE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BB6D5-AF58-49E9-9AB3-3F863211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内存释放成熟度：2/5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BE964-04FD-4B48-A8D1-22F81A15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DE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02552-0625-4DBD-8FAE-800CA82D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6710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优先优化：所有权模型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6598B-8AFF-40E4-A9BE-237ACE58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2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7E2D8"/>
                </a:solidFill>
                <a:latin typeface="Microsoft YaHei"/>
                <a:ea typeface="Microsoft YaHei"/>
                <a:cs typeface="Microsoft YaHei"/>
              </a:rPr>
              <a:t>交付物：Word 评估报告 + 项目概况 PPT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B78DC-FD8F-4EC7-9740-6AC78361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00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7E2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7E2D8"/>
                </a:solidFill>
                <a:latin typeface="Microsoft YaHei"/>
                <a:ea typeface="Microsoft YaHei"/>
                <a:cs typeface="Microsoft YaHei"/>
              </a:rPr>
              <a:t>2026-05-25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7C0D1-CD63-442B-9D4D-85DF0218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DFD1F-34AE-4B14-A9C1-2588D8FC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基于源码静态分析 | 未重新编译验证：当前终端未找到 cmake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BEE12E-963D-4FDF-8276-B11D0BB9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88178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90033C-D532-4D00-AF7D-78F98F9C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9E5A0-2C3D-422A-971A-FD009288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1D0A8-6FCD-41EF-BCAD-2521D080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6BD60-D352-48BF-946F-795376DC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项目已经从单文件练习拆成了可识别的框架层。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09204-5827-4DF8-A25A-88A4660C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438400" cy="3543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DD5BC-361F-4EE2-BBFF-2F455C3B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入口与平台层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D548C-0034-419C-B688-90B0D502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CE918-DD27-4013-8C9D-386CD785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4E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CA8D8-245B-4637-9CE5-910AE314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main.cpp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8DB91-A8D7-4EB8-AC30-F57573F0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AD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4AEC7-5B3D-4640-9D6D-08E61CB7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6BB35-8773-4EB7-BEF8-E59BCEB6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4E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7D43E-6574-4E02-AC6C-2303B73F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GLFW / GLAD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261B7-3E3B-4146-AADF-E9344EAA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AD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A3A55-D4A6-4D54-BBAD-F79F774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ImGui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C99F7-7C07-4231-9C96-80DCAAE1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9750"/>
            <a:ext cx="2438400" cy="3543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79352-46C8-43CF-B4BF-64D820AD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1930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场景与资源层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4393F-5F33-4BD0-843A-94E21307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C316C-6930-4A2B-9574-6EC776E0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4E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BA9948-C9C4-4E40-89AA-33FCA065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432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Object / Scene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A6935-8B3C-4883-8807-962F0DF4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7660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AD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C532C-07C0-4F16-9222-1CB3E325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718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Mesh / Geometry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032C0-138F-4657-B2C9-524C2ADC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0525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4E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5BB6B4-4955-44DD-8D30-AF3E0FFB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005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Material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E57BF8-3EAA-44F0-A705-E0D1EC4F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3390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AD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B903A7-061C-4E8E-9529-F4D18D33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291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Texture cache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AABF9F-5D35-4E95-A100-07C73290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2438400" cy="3543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16C8ED-DB93-41D1-B9C9-F0B9E574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1930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渲染执行层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F856CE-ADB0-43AB-9879-ECDBE0AB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EEEDFF-77F7-45A2-98AC-30015707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4E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89A84B-0F57-4D70-875E-C244599B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Renderer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74CF13-CD17-45AC-B7D8-F5630ABC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7660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AD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BD0763-96E9-4B0D-A149-E202C687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Shader program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E8E528-A1D1-4586-9965-DA40579F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0525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4E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816E23-FE49-44A0-988B-FA8C31A7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Render state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40E4A1-F648-48AE-9B6E-7B07702E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3390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AD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18B1DF-A83B-436D-B909-834E478F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透明队列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4A188A-A31E-4693-A78B-23AF3C07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09750"/>
            <a:ext cx="2438400" cy="3543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F2DFBE-AC12-4E44-87DD-F8A92F13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1930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资产与工具层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05CFD9-C884-45A5-911F-8F419777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F57CCD-177E-4E73-B0E4-3220B680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4795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4E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3F8CF8-AFDC-4134-8C11-9403E92B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432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AssimpLoader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B6496B-75F1-434F-A2E5-27540314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7660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AD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70266A-5C04-485F-BCFF-755F9E6B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718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stb_image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A7DEF3-EFC7-416C-8A1F-8C92D5E2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0525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4E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AB52E7-B8FB-4F2D-8EF2-247DE8B9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005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assets/shaders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3915F2-6022-4DF3-838F-06575C8C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33900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ADA"/>
          </a:solidFill>
          <a:ln xmlns:a="http://schemas.openxmlformats.org/drawingml/2006/main" w="9525">
            <a:solidFill>
              <a:srgbClr val="E0D7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0FAAEA-E19B-4E5E-917D-0728737D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291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assets/textures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73E81E-D6A3-4D7B-84C0-317F8249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62600"/>
            <a:ext cx="828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E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3F28B1-1340-4641-90A7-F6201442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34050"/>
            <a:ext cx="792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结构价值：后续优化不必推倒重来，应围绕现有模块补齐所有权、资源管理器和验证工具。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2815FF-A8DE-4D11-BE28-4946DA01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7E8467-5548-4B4B-8F82-5EF959CB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基于源码静态分析 | 未重新编译验证：当前终端未找到 cmake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73E111-F390-492C-9BA4-1B2AFE8D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71205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55E111-55E3-48A9-9746-352644A7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E8F00-0E10-499F-9E68-F9F354BC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COMPLETED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2F12E-6B0D-4EE2-A360-9A760D50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05509-DA57-4342-8CDA-23C8FC65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已完成内容覆盖了渲染框架的主干能力。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CA61A-D170-460D-8669-A14BAE6B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57531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A76DE-7673-4832-98F4-A100821F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能力成熟度快照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60393-5EB6-4684-9477-81F77684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窗口与输入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7790B-AED0-4E89-BFD6-F4F536BC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7177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CD0C4-B1BB-495F-9FC0-89C828AA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71775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FFFFE-4044-497D-876F-8346C644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051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3/5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5B2BF-E2BF-447C-A6C0-14C2B3C1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相机控制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CDC76-D9AD-48EE-BEC7-50913010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480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E8EBD-F764-4F6C-A236-E5FBACAD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48025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A2800-E6C4-41C0-B327-66B2E121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813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3/5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D01E5-1BF6-47B5-A1BB-3E131286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场景树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DC071-4ED7-4148-B30F-9810E09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2427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D378E-4ECC-494C-9284-27B1CCED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242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9CF82-725E-4893-B4CE-1EE469D0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576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2.5/5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A0CC4-94FF-4407-A5BD-CCC775D2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材质/Shader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21A65-4E19-48FB-B7B2-9CDA35E4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005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917BB-461C-4B47-B4D1-52568A40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00525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AB505-84E1-4FF9-ADE3-175893F3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338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3/5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606891-2F3F-44C3-A396-7DD2D8CD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模型/纹理加载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C6E734-74EE-4AD1-9D4D-A7124B23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7677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A064A8-7EFC-4750-97E4-2D71254C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767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98E956-5037-4BCA-B820-6511AB3E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101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2.5/5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12A692-D660-41DC-981F-4B2F8ADC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47850"/>
            <a:ext cx="4572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902DCE-9DE9-4243-9EF8-99614A22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已经具备的实际能力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07DFA0-D22B-4B5C-AD3D-C00DDF0E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Renderer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0FD4D6-0214-4777-BF3F-5802A492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按 MaterialType 选择 Shader，并设置深度、模板、混合、面剔除状态。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129D30-231A-4F21-8A40-5B17F73C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Assimp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B77D57-BB59-4328-A06F-2BCDAD9D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147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递归解析节点、Mesh、贴图和局部变换。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46CFF3-AB92-4BC1-BFFB-34CA7543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Texture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18B31B-994C-4BA8-9499-08329343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624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支持文件、内存、Cubemap、FBO attachment 和路径缓存。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DCEF30-513A-42C3-9291-5F49D0E8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Debug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317EA3-7F40-4ABF-97E7-54D49BCE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01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已有 ImGui 面板和构造/析构日志。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81267F-9120-4DED-AA70-ADD145B4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EA20A4-ADCA-43F3-B9C7-E6EDAF9B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基于源码静态分析 | 未重新编译验证：当前终端未找到 cmake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8924E9-74B7-4B3A-A4B9-F991934E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59304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916771-F28B-4916-B569-ABBF2F39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CA17A-DB83-47D4-96F2-21726896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E530D-315D-476D-8CBF-1E1B5F18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939EC-56AB-43F5-9195-B3C3A819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欠缺项主要是引擎工程化，而不是 OpenGL API 数量。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D1748-E000-44B4-B803-68D33883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0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1D8D5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1F700-02EC-4E4C-B6D1-B62A0EBC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8C715-EA70-4E6B-B61F-74B57C19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8120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所有权不由类型系统保证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4F87B-0D8A-49B4-98B0-21D7C65D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0505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Scene、Mesh、Material、Texture、Renderer 大量依赖裸指针约定。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49471-4B2D-4F28-992A-D50E148F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510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1D8D5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B6C0B-140C-4198-B898-55E5B3D7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B2232-307D-485C-81B8-869BDFEA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Texture 兼任资源和绑定状态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7B79A-50E6-40AC-8DEF-13D00297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0505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共享 Texture 被 setUnit 修改，多个材质复用时容易互相影响。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6502B-5BEA-4A36-B975-3F3BF91C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510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E2BE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B99B3-6BD9-415F-B056-878A938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4FE8C-C41C-488A-A679-C7F92F98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718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GPU 句柄对象默认可拷贝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2115A-F29B-42CC-9678-2747EC3D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957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Geometry、Texture、Shader、Framebuffer 持有 GL id，但没有禁用 copy。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EB18B5-AC76-4E77-BF7F-E9D66D48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510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E2BE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7EC20-8CDA-46DE-84A9-40DE53C8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D651F0-F50D-4EB9-876B-F9D3EBED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718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失败路径和验证工具不足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C39E8-5972-4A62-835E-4A5ED08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957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模型加载失败、构建复现、泄漏报告、资源计数还没有形成体系。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7CE69-1BB7-4BA9-907E-B6092A37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BC5BB-0BF0-4D3B-A49C-B40F6DA2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024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判断：先把生命周期规则补稳，再扩展 PBR、阴影、后处理等高层功能。否则功能越多，释放责任越难追。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3E99E-1393-44D9-9C56-A4191A36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AA5DAF-A59E-4F9E-9A3B-92324820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基于源码静态分析 | 未重新编译验证：当前终端未找到 cmake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31C740-4123-49C4-AEF3-2240AE64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75122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AFEF65-14CF-42F3-8B1B-BDBB070C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C0D6D-3DC7-45B7-97A6-D173B6A0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MEMORY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68673-9DBA-4A4C-AA35-D8739E9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7E74A-B99B-4DB2-BA76-F67989B7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当前已经有释放动作，但生命周期模型还不可靠。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ABC9A-4B48-4112-888A-FCBF048A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61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DE7"/>
          </a:solidFill>
          <a:ln xmlns:a="http://schemas.openxmlformats.org/drawingml/2006/main" w="9525">
            <a:solidFill>
              <a:srgbClr val="2E7D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45A30-A654-47D7-9298-370D81EF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Scene</a:t>
            </a:r>
          </a:p>
          <a:p xmlns:a="http://schemas.openxmlformats.org/drawingml/2006/main">
            <a:pPr algn="ctr">
              <a:def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析构 Object 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3D2DF-D927-4455-90B8-11C7C85D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61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DE7"/>
          </a:solidFill>
          <a:ln xmlns:a="http://schemas.openxmlformats.org/drawingml/2006/main" w="9525">
            <a:solidFill>
              <a:srgbClr val="2E7D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78CED-6E19-4486-A773-28E67AC4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7170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Object</a:t>
            </a:r>
          </a:p>
          <a:p xmlns:a="http://schemas.openxmlformats.org/drawingml/2006/main">
            <a:pPr algn="ctr">
              <a:def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递归 delete child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11AB7-6B43-498B-8CBF-5B63331A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95500"/>
            <a:ext cx="161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DE7"/>
          </a:solidFill>
          <a:ln xmlns:a="http://schemas.openxmlformats.org/drawingml/2006/main" w="9525">
            <a:solidFill>
              <a:srgbClr val="2E7D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C9926-F954-49F8-A6D4-045AC569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Mesh</a:t>
            </a:r>
          </a:p>
          <a:p xmlns:a="http://schemas.openxmlformats.org/drawingml/2006/main">
            <a:pPr algn="ctr">
              <a:def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delete Geometry/Material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E9009-DEE1-4BF8-AD65-6AFFE3FF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52600"/>
            <a:ext cx="161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DE7"/>
          </a:solidFill>
          <a:ln xmlns:a="http://schemas.openxmlformats.org/drawingml/2006/main" w="9525">
            <a:solidFill>
              <a:srgbClr val="2E7D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11B72-9693-4F12-B05F-E7E4424C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2880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Geometry</a:t>
            </a:r>
          </a:p>
          <a:p xmlns:a="http://schemas.openxmlformats.org/drawingml/2006/main">
            <a:pPr algn="ctr">
              <a:def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glDelete VAO/VBO/EBO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2695D-CC15-4E15-898F-FEB0A2CF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161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E2BE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5ADCF-BA4B-4D2B-998E-CEAA2A50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5750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Material</a:t>
            </a:r>
          </a:p>
          <a:p xmlns:a="http://schemas.openxmlformats.org/drawingml/2006/main">
            <a:pPr algn="ctr">
              <a:def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Texture* 不释放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9130A-8725-4C26-806E-A5B563B5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161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E2BE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B1205-1F6D-4175-8A12-F557CBE3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57500"/>
            <a:ext cx="1390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Texture cache</a:t>
            </a:r>
          </a:p>
          <a:p xmlns:a="http://schemas.openxmlformats.org/drawingml/2006/main">
            <a:pPr algn="ctr">
              <a:def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clearCache 统一释放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28F6B-9FBB-4D6E-AE43-1F2738F1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622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1DDA7-8A9E-4959-BBE6-68E886F3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28640-F305-4AE4-AAD8-C3E5190A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0FA71-ABFA-4F52-A488-F6D99615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07E54-3600-4075-94F7-998ECABE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48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F3983-91B2-498D-A92C-7639D59C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48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95F78B-E4A9-485C-A14F-F929E16F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04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60C51B-B999-435A-9DB2-BCD81B20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做得对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09ACE3-DA64-4702-BE4B-ACD670C1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VAO/VBO/EBO、Shader program、Texture id、FBO 都有析构释放路径。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241D7D-1E5E-4E31-B2C4-D898944F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04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DF44E6-8DE3-4B92-9F63-0D58E8DB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910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主要问题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5E558F-8FE6-4326-A6E9-2ADF2C30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958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谁拥有 Texture、谁只是引用，还没有由类型系统表达。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85CB8B-495A-4250-817B-86562575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29146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D27495-62F0-4CD8-8F64-FCFE6107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910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核心改法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348B63-A4E9-4810-B7BB-BDFB3CFA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958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RAII + handle/resource manager + 绑定状态外置。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6C641E-282C-48BC-A8A3-A8615E3D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647452-A6B6-4877-BA17-E7F71330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基于源码静态分析 | 未重新编译验证：当前终端未找到 cmake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3AD931-29AA-4906-B5EF-83DB8F4E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25663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F3DE40-DEFD-47FC-A47E-CF489A80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EF563-E552-43E1-B373-11290B2D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ENGINE STANDARD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ABCFF-81E6-4752-AA97-9769F87A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C9675-4D8B-4795-817D-A15A3187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成熟引擎把释放问题变成一条可验证的资源流水线。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AA9F3-0111-4617-A331-1BC66F4C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F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80859-823C-4907-9CFF-80D3334A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Acquire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98CDB-B25A-4E9E-9126-7B3AAA2C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通过 ResourceManager 按 key 获取资源。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851B0-2EB4-4BD7-8632-1399212B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9BD39-0835-4D58-89B7-32E4003D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Handle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04662-0782-4138-A464-EA22F712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材质持有 handle，引用和所有权分开。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01E1B-BE8B-4D2B-9C01-B8753C55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95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54A39-88BB-4112-8805-6BF5473E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9F3F3-AE63-4E17-B218-1C4A6636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Renderer 在 pass 内决定纹理单元和状态。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AB03C-761B-4F30-BEC9-0EB2110A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18222-BA61-4824-BB5E-22E26BB4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E4CF4-5FAF-4E62-8E2D-36B9733C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引用归零或场景卸载后进入释放队列。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D5F37-3545-434E-A027-638E685F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B741C-724D-443F-92E5-371739BD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479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C2BC2-4C81-4D42-AEE7-7374CB7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帧末或退出时输出 live count 和泄漏。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1C448-3AA2-4A02-9E5E-9B68C517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098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FB3EE-BFBA-46FD-85BD-D2E7BEF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B2601-8E79-486D-AC62-BAA9559C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61DAF-22E4-4182-9C57-3536D94B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98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F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CE5A8-BE8A-4387-9C07-C409A55B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4400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EDE7"/>
          </a:solidFill>
          <a:ln xmlns:a="http://schemas.openxmlformats.org/drawingml/2006/main" w="9525">
            <a:solidFill>
              <a:srgbClr val="2E7D6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EC90A2-28B2-46E0-90F7-3F136CFD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9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CPU 对象层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CB23D8-6F96-4A46-8947-DD165151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4340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Object、Mesh、Material、Asset metadata 使用 unique_ptr / shared_ptr / handle 表达所有权。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13C81-11C5-4F4E-B9CE-6A1FC630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44005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EAF3"/>
          </a:solidFill>
          <a:ln xmlns:a="http://schemas.openxmlformats.org/drawingml/2006/main" w="9525">
            <a:solidFill>
              <a:srgbClr val="245F8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4E0489-C6B5-4899-81C9-13DD8029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19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GPU 句柄层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4B90E6-A5D6-459E-8781-F40DFCE5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4340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VAO、Buffer、Texture、ShaderProgram、Framebuffer 是不可拷贝、可移动的 RAII 对象。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374614-55BB-4D1D-82BD-CE9D4CF1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7ABA48-2091-49F2-B4D9-E2E1794C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基于源码静态分析 | 未重新编译验证：当前终端未找到 cmake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0E9E89-8430-4E2C-9168-D340EF61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69611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EA4596-E330-4479-9821-0EF86E39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28DB2-7C28-40E0-B6D7-02515C4F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2E103-8FC1-4615-8F9E-77F62971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EDAA2-59AF-4912-90C0-11F58AEC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优化方案应该先收敛生命周期，再扩展渲染功能。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6367F-5545-4B53-A98B-91010AC1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975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E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D06EF-D2C7-4CF6-ACBD-30218B6E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F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CE95F-8A1A-4A4C-9F79-1FEF38B4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8D"/>
          </a:solidFill>
          <a:ln xmlns:a="http://schemas.openxmlformats.org/drawingml/2006/main" w="9525">
            <a:solidFill>
              <a:srgbClr val="245F8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D0CC4-54F7-489C-81CB-2672EC5B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431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资源清单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4D89A-66A2-45A1-BC5C-3880E531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288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标注 owned / borrowed，整理 shutdown 顺序。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1A434-E540-4A57-9B7C-A14AF859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097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E4CA0-7784-421A-9A59-16D70205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4B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2C4AD-1F0E-4D09-A52D-F06FFE6A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431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禁用拷贝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C6A5E-98F0-45F0-91C6-BAA01F19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288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GL 句柄类 delete copy，必要时实现 move。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FB791-9629-4C56-A313-EEFEC7A6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1CF6C-613C-48D7-9E63-66ABD84A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FF18E-D6B2-4ACB-974F-E78C16DD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431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修失败路径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CB916-4206-4B68-80A6-8DD53170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288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Assimp 加载失败、窗口销毁、单例释放。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123F3-E3E7-4040-A40F-38BFC9CC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097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DC737-DDAA-448C-9087-E02757CF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62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9525">
            <a:solidFill>
              <a:srgbClr val="2E7D6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94DBE-20D8-4CC7-8CF0-0DB5F1B0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431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拆纹理单元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68A46-4F07-4631-8AB5-E017B9D9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288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bind(unit)，不把 unit 存在共享对象里。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CCE16-A282-4C3E-B194-A41D91C0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948ED-5336-4397-AF4D-CE70C718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9525">
            <a:solidFill>
              <a:srgbClr val="2E7D6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59CCD-AB5D-4262-8FEB-BBA03CC8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材质 handle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75C921-8D8C-440B-9E64-6CB4DB30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Material 持有 TextureHandle / shared_ptr。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4389E-3517-440D-A97E-50AE8B2E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F8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35C504-8528-4C92-B464-C57BBF1A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8D"/>
          </a:solidFill>
          <a:ln xmlns:a="http://schemas.openxmlformats.org/drawingml/2006/main" w="9525">
            <a:solidFill>
              <a:srgbClr val="245F8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97CB85-B84F-45DC-BFBF-ECFC8EE1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291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Scene unique_ptr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18290-7B81-41F8-9EDD-2B8AB860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148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Object children 与 Mesh 资源独占所有权。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A0C017-AB3A-4E5E-9524-90AEA94F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B940B0-E21E-464A-A636-FF2AE047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48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EB8568-D9B6-42C1-973E-655E7B79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291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资源管理器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F1333B-D8E8-4E4C-A837-8F49D2E4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148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统一缓存、卸载、reload 与泄漏报告。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D185BA-2B48-4EAD-922A-5939E18D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3820C4-19C8-4BB4-A7EB-7D54A756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48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4B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B23D44-12FD-48BD-81A4-1B74057A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291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压力测试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A5F851-D12E-4B58-A8EF-95BE1ABF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148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重复加载卸载、FBO resize、退出清零。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209CCF-92E1-4AFD-A6FB-7B71DAB4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532CF1-128D-48D8-BCF7-682A29D8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基于源码静态分析 | 未重新编译验证：当前终端未找到 cmake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EADC82-2B0E-4F1D-8712-4E3B164B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01053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6A6F5C-0059-4F41-8677-33527AD6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60FBB-0F66-4D90-9FB4-16463B14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5F8D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06D94-0157-40A0-853E-E56B67F5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75D0B-A838-4A97-81A2-B9011CCF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下一步的验收标准应当是资源可追踪、可释放、可复现。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28DEB-ECF1-4B00-8D6B-3A9FFF07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优先级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C73EA-0C50-481A-9387-348F46F3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90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建议事项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5A9C5-6EF6-4DDE-83EC-75F9FBDF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90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验收口径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19930-9968-4C99-AFC0-E501B6FB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D8D5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CD8C9-C1D8-46B0-8D33-622C178E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B2AD5-C6F2-440B-86F8-80A4CEED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33600"/>
            <a:ext cx="42100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F2A35-4FEF-43F5-8EA3-A5127F46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79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禁用 GL 资源类拷贝；拆掉共享 Texture 的 unit 状态。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D04E2-F9FC-4EC1-A9F9-A5710E0F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48196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D4F6B-E533-447F-8C16-CBD28FA5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436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不会因为值拷贝产生重复 glDelete；材质复用纹理时绑定单元互不串扰。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F4A75-85B0-42CE-AAAE-59B4CC6D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D8D5"/>
          </a:solidFill>
          <a:ln xmlns:a="http://schemas.openxmlformats.org/drawingml/2006/main" w="9525">
            <a:solidFill>
              <a:srgbClr val="B64B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FA801-09CE-4789-B759-C2C036BB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8A0D1-279B-4176-B371-4243C987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95600"/>
            <a:ext cx="42100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225AF-0983-4772-A05F-EA7896DF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099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确定 Texture / Material / Framebuffer 的所有权合同。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E136D-340D-40AF-A1A0-DF211D59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48196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B6AA5-B5A3-4A03-B4E5-5904B4BD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9900"/>
            <a:ext cx="436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所有裸指针都能说明 owned 或 borrowed，并逐步替换为 handle / unique_ptr。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4906B2-0739-446D-844E-976AB65B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E2BE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102CC-1C47-4840-8C61-DCC11324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E690C-CC89-41E3-B35C-DE679CEE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57600"/>
            <a:ext cx="42100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40295-C223-4D93-A82F-17F1644D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719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修复 Assimp 失败泄漏、Application 窗口销毁和调试材质替换方式。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CF2D3-87AB-4AD0-99DF-1E326DC7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57600"/>
            <a:ext cx="48196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9ED501-5F6E-4EFA-B8B5-18E6C312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71900"/>
            <a:ext cx="436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失败路径和退出路径不残留 CPU 对象或 GL 对象。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B80B99-4584-4486-8F63-A3E054F8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DE7"/>
          </a:solidFill>
          <a:ln xmlns:a="http://schemas.openxmlformats.org/drawingml/2006/main" w="9525">
            <a:solidFill>
              <a:srgbClr val="2E7D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CE5C9-6431-47B5-960E-E5AEA258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7D68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D380B5-FD86-47F2-AC55-457C0926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19600"/>
            <a:ext cx="42100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15C38-9604-429C-8D7C-BDDCB8CB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339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接入 ResourceTracker 与 ImGui 资源面板。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EE3D6C-A450-415A-AB17-6744F8DF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9600"/>
            <a:ext cx="48196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9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9B7A27-B35E-4CA1-A8DB-7F792A77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33900"/>
            <a:ext cx="436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能看到 Texture、Shader、Geometry、FBO 当前数量和退出泄漏报告。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1077BC-A6D5-4FAF-8DC4-F65C0642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0439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354768-E6ED-4C27-9F8F-636FFB53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1005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最终目标：从“依靠记忆释放资源”升级为“类型和工具共同保证生命周期”。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7D000F-8411-46E6-8B97-D350C34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9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4C3774-F169-4C2F-AF77-137421D0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基于源码静态分析 | 未重新编译验证：当前终端未找到 cmake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29185C-82F8-43DE-9A33-145A9520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0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6420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2026-05-25T04:02:46.7240000Z</dcterms:created>
  <dcterms:modified xsi:type="dcterms:W3CDTF">2026-05-25T04:02:46.7240000Z</dcterms:modified>
</coreProperties>
</file>